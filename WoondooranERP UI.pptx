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5b49fbca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5b49fbca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771454f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771454f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7aaef60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7aaef60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8dac91d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8dac91d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dac91d9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8dac91d9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dac91d9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8dac91d9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000" y="152400"/>
            <a:ext cx="548100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2075" y="0"/>
            <a:ext cx="15576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Main(</a:t>
            </a:r>
            <a:r>
              <a:rPr lang="ko"/>
              <a:t>대시보드)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635400"/>
            <a:ext cx="3358201" cy="428764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5843800" y="3561825"/>
            <a:ext cx="2451000" cy="627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초안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606000" y="3561825"/>
            <a:ext cx="2451000" cy="627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구현</a:t>
            </a:r>
            <a:endParaRPr/>
          </a:p>
        </p:txBody>
      </p:sp>
      <p:cxnSp>
        <p:nvCxnSpPr>
          <p:cNvPr id="59" name="Google Shape;59;p13"/>
          <p:cNvCxnSpPr>
            <a:stCxn id="57" idx="1"/>
            <a:endCxn id="58" idx="3"/>
          </p:cNvCxnSpPr>
          <p:nvPr/>
        </p:nvCxnSpPr>
        <p:spPr>
          <a:xfrm rot="10800000">
            <a:off x="3057100" y="3875775"/>
            <a:ext cx="278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12075" y="0"/>
            <a:ext cx="15576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원재료수불부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400" y="200750"/>
            <a:ext cx="3358200" cy="433031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4904475" y="1110825"/>
            <a:ext cx="1465800" cy="651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원재료1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재고: 00kg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587637" y="1110825"/>
            <a:ext cx="1465800" cy="651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원재료2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재고: 00kg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4904475" y="1859425"/>
            <a:ext cx="1465800" cy="651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원재료3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재고: 00kg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6587637" y="1859425"/>
            <a:ext cx="1465800" cy="651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원재료4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재고: 00kg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2281975" y="1364425"/>
            <a:ext cx="2185500" cy="2221500"/>
          </a:xfrm>
          <a:prstGeom prst="wedgeRectCallout">
            <a:avLst>
              <a:gd fmla="val 79827" name="adj1"/>
              <a:gd fmla="val -42937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원재료를 추가하면 원재료별로 재고량이 얼마인지 보여줌.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버튼을 클릭하면 해당 원재료의 입출고 내역을 보여주는 화면으로 전환됨.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249" y="140375"/>
            <a:ext cx="3229251" cy="482202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5826525" y="1110800"/>
            <a:ext cx="3229200" cy="154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12075" y="0"/>
            <a:ext cx="15576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원재료수불부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5826550" y="1581677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7509703" y="1581677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로트번호_01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00(</a:t>
            </a:r>
            <a:r>
              <a:rPr lang="ko">
                <a:solidFill>
                  <a:schemeClr val="dk1"/>
                </a:solidFill>
              </a:rPr>
              <a:t>재고량)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7509703" y="2110895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로트번호_03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00(재고량)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826562" y="2110895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로트번호_03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00(재고량)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351275" y="2475225"/>
            <a:ext cx="2185500" cy="1859400"/>
          </a:xfrm>
          <a:prstGeom prst="wedgeRectCallout">
            <a:avLst>
              <a:gd fmla="val 70125" name="adj1"/>
              <a:gd fmla="val -58445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 재고, 로트번호별 재고가 </a:t>
            </a:r>
            <a:r>
              <a:rPr lang="ko"/>
              <a:t>얼마인지 보여줌.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카드를</a:t>
            </a:r>
            <a:r>
              <a:rPr lang="ko"/>
              <a:t> 클릭하면 </a:t>
            </a:r>
            <a:r>
              <a:rPr lang="ko"/>
              <a:t>하단에 </a:t>
            </a:r>
            <a:r>
              <a:rPr lang="ko"/>
              <a:t>해당 원재료의 </a:t>
            </a:r>
            <a:r>
              <a:rPr lang="ko"/>
              <a:t>로트번호에 대한 </a:t>
            </a:r>
            <a:r>
              <a:rPr lang="ko"/>
              <a:t>입출고 내역을 </a:t>
            </a:r>
            <a:r>
              <a:rPr lang="ko"/>
              <a:t>보여줌.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(기본값: 전체)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826550" y="117125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날짜별 검색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351275" y="1316050"/>
            <a:ext cx="2185500" cy="483000"/>
          </a:xfrm>
          <a:prstGeom prst="wedgeRectCallout">
            <a:avLst>
              <a:gd fmla="val 70125" name="adj1"/>
              <a:gd fmla="val -58445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오늘을 기준으로 최근 1년이 기본값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249" y="140375"/>
            <a:ext cx="3229251" cy="482202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5826525" y="1110800"/>
            <a:ext cx="3229200" cy="154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2075" y="0"/>
            <a:ext cx="15576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설정&gt;원재료 코드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5826550" y="1581677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7509703" y="1581677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로트번호_01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00(재고량)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509703" y="2110895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로트번호_03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00(재고량)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5826562" y="2110895"/>
            <a:ext cx="1465800" cy="4608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로트번호_03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00(재고량)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351275" y="2475225"/>
            <a:ext cx="2185500" cy="1859400"/>
          </a:xfrm>
          <a:prstGeom prst="wedgeRectCallout">
            <a:avLst>
              <a:gd fmla="val 70125" name="adj1"/>
              <a:gd fmla="val -58445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전체 재고, 로트번호별 재고가 얼마인지 보여줌.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카드를 클릭하면 하단에 해당 원재료의 로트번호에 대한 입출고 내역을 보여줌.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(기본값: 전체)</a:t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826550" y="117125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날짜별 검색</a:t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351275" y="1316050"/>
            <a:ext cx="2185500" cy="483000"/>
          </a:xfrm>
          <a:prstGeom prst="wedgeRectCallout">
            <a:avLst>
              <a:gd fmla="val 70125" name="adj1"/>
              <a:gd fmla="val -58445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오늘을 기준으로 최근 1년이 기본값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6250" y="163450"/>
            <a:ext cx="3397751" cy="49672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2075" y="0"/>
            <a:ext cx="18111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원재료수불부&gt;등록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569675" y="3610125"/>
            <a:ext cx="4039800" cy="1412700"/>
          </a:xfrm>
          <a:prstGeom prst="wedgeRectCallout">
            <a:avLst>
              <a:gd fmla="val 61442" name="adj1"/>
              <a:gd fmla="val -31199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“</a:t>
            </a:r>
            <a:r>
              <a:rPr b="1" lang="ko"/>
              <a:t>원재료명”을 선택하고 “구분”이 “출고”일 경우: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해당 원재료의 로트 번호 중 </a:t>
            </a:r>
            <a:r>
              <a:rPr lang="ko" u="sng"/>
              <a:t>재고가 “0”이 아닌</a:t>
            </a:r>
            <a:r>
              <a:rPr lang="ko"/>
              <a:t> 로트번호만 보여져서 선택할 수 있게 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로트번호 옆에 “내역”을 괄호 안에 표시해 주어 사용자의 선택을 수월하게 함.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320350" y="1521325"/>
            <a:ext cx="2289000" cy="483000"/>
          </a:xfrm>
          <a:prstGeom prst="wedgeRectCallout">
            <a:avLst>
              <a:gd fmla="val 62879" name="adj1"/>
              <a:gd fmla="val 187479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품목명-&gt;원재료명으로 변경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3320350" y="760675"/>
            <a:ext cx="2289000" cy="639900"/>
          </a:xfrm>
          <a:prstGeom prst="wedgeRectCallout">
            <a:avLst>
              <a:gd fmla="val 70792" name="adj1"/>
              <a:gd fmla="val -47505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원재료 관리-&gt; 원재료수불부로 변경</a:t>
            </a:r>
            <a:endParaRPr/>
          </a:p>
        </p:txBody>
      </p:sp>
      <p:cxnSp>
        <p:nvCxnSpPr>
          <p:cNvPr id="108" name="Google Shape;108;p17"/>
          <p:cNvCxnSpPr/>
          <p:nvPr/>
        </p:nvCxnSpPr>
        <p:spPr>
          <a:xfrm flipH="1">
            <a:off x="2209650" y="2873600"/>
            <a:ext cx="3791100" cy="84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7"/>
          <p:cNvCxnSpPr/>
          <p:nvPr/>
        </p:nvCxnSpPr>
        <p:spPr>
          <a:xfrm flipH="1">
            <a:off x="4262225" y="2873600"/>
            <a:ext cx="3791100" cy="84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7"/>
          <p:cNvSpPr/>
          <p:nvPr/>
        </p:nvSpPr>
        <p:spPr>
          <a:xfrm>
            <a:off x="652000" y="1122875"/>
            <a:ext cx="2289000" cy="639900"/>
          </a:xfrm>
          <a:prstGeom prst="wedgeRectCallout">
            <a:avLst>
              <a:gd fmla="val 69209" name="adj1"/>
              <a:gd fmla="val -51887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52000" y="1122875"/>
            <a:ext cx="2289000" cy="639900"/>
          </a:xfrm>
          <a:prstGeom prst="wedgeRectCallout">
            <a:avLst>
              <a:gd fmla="val 68682" name="adj1"/>
              <a:gd fmla="val 48117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652000" y="1122875"/>
            <a:ext cx="2289000" cy="639900"/>
          </a:xfrm>
          <a:prstGeom prst="wedgeRectCallout">
            <a:avLst>
              <a:gd fmla="val 4329" name="adj1"/>
              <a:gd fmla="val 348125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수정하는 화면에도 반영되는지 확인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413" y="0"/>
            <a:ext cx="350757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12075" y="0"/>
            <a:ext cx="22890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설정</a:t>
            </a:r>
            <a:r>
              <a:rPr lang="ko"/>
              <a:t>&gt;</a:t>
            </a:r>
            <a:r>
              <a:rPr lang="ko"/>
              <a:t>로트번호</a:t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5826550" y="91775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로트번호 관리                 “+등록”</a:t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5826550" y="222975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로트번호1 </a:t>
            </a:r>
            <a:r>
              <a:rPr lang="ko" sz="1100"/>
              <a:t>사용여부, 구분</a:t>
            </a:r>
            <a:r>
              <a:rPr lang="ko"/>
              <a:t>       “수정” “삭제”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826550" y="131620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“</a:t>
            </a:r>
            <a:r>
              <a:rPr lang="ko"/>
              <a:t>전체”</a:t>
            </a:r>
            <a:r>
              <a:rPr lang="ko">
                <a:solidFill>
                  <a:schemeClr val="dk1"/>
                </a:solidFill>
              </a:rPr>
              <a:t>            </a:t>
            </a:r>
            <a:r>
              <a:rPr lang="ko"/>
              <a:t>“사용”            “미사용”</a:t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5826550" y="171465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“</a:t>
            </a:r>
            <a:r>
              <a:rPr lang="ko"/>
              <a:t>원재료</a:t>
            </a:r>
            <a:r>
              <a:rPr lang="ko"/>
              <a:t>”</a:t>
            </a:r>
            <a:r>
              <a:rPr lang="ko">
                <a:solidFill>
                  <a:schemeClr val="dk1"/>
                </a:solidFill>
              </a:rPr>
              <a:t>           </a:t>
            </a:r>
            <a:r>
              <a:rPr lang="ko"/>
              <a:t>“</a:t>
            </a:r>
            <a:r>
              <a:rPr lang="ko"/>
              <a:t>반제품</a:t>
            </a:r>
            <a:r>
              <a:rPr lang="ko"/>
              <a:t>”           “</a:t>
            </a:r>
            <a:r>
              <a:rPr lang="ko"/>
              <a:t>완제품</a:t>
            </a:r>
            <a:r>
              <a:rPr lang="ko"/>
              <a:t>”</a:t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5826550" y="267650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로트번호2 </a:t>
            </a:r>
            <a:r>
              <a:rPr lang="ko" sz="1100"/>
              <a:t>사용여부, 구분</a:t>
            </a:r>
            <a:r>
              <a:rPr lang="ko"/>
              <a:t>       “수정” “삭제”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5826550" y="3123250"/>
            <a:ext cx="31491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로트번호3 </a:t>
            </a:r>
            <a:r>
              <a:rPr lang="ko" sz="1100"/>
              <a:t>사용여부, 구분</a:t>
            </a:r>
            <a:r>
              <a:rPr lang="ko"/>
              <a:t>       “수정” “삭제”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7014975" y="3726975"/>
            <a:ext cx="1960800" cy="483000"/>
          </a:xfrm>
          <a:prstGeom prst="wedgeRectCallout">
            <a:avLst>
              <a:gd fmla="val -27217" name="adj1"/>
              <a:gd fmla="val -119193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구분: 원재료, 반제품, 완제품, 포장재</a:t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5621425" y="414525"/>
            <a:ext cx="2289000" cy="44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설정&gt;로트번호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413" y="0"/>
            <a:ext cx="350757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/>
          <p:nvPr/>
        </p:nvSpPr>
        <p:spPr>
          <a:xfrm>
            <a:off x="12075" y="0"/>
            <a:ext cx="22890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설정&gt;로트번호&gt;</a:t>
            </a:r>
            <a:r>
              <a:rPr lang="ko"/>
              <a:t>등록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5633498" y="917750"/>
            <a:ext cx="3507600" cy="42258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6767531" y="1316200"/>
            <a:ext cx="2289000" cy="342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원재료, 반제품, 완제품, </a:t>
            </a:r>
            <a:r>
              <a:rPr lang="ko" sz="1200"/>
              <a:t>포장재 중 하나 선택</a:t>
            </a:r>
            <a:endParaRPr sz="1200"/>
          </a:p>
        </p:txBody>
      </p:sp>
      <p:sp>
        <p:nvSpPr>
          <p:cNvPr id="135" name="Google Shape;135;p19"/>
          <p:cNvSpPr/>
          <p:nvPr/>
        </p:nvSpPr>
        <p:spPr>
          <a:xfrm>
            <a:off x="5698900" y="1316200"/>
            <a:ext cx="869400" cy="342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구분</a:t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5698900" y="1762950"/>
            <a:ext cx="869400" cy="483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품명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767531" y="1762950"/>
            <a:ext cx="2289000" cy="483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로트</a:t>
            </a:r>
            <a:r>
              <a:rPr lang="ko" sz="1200"/>
              <a:t>번호</a:t>
            </a:r>
            <a:r>
              <a:rPr lang="ko" sz="1200"/>
              <a:t> 식별자 없는 품명목록</a:t>
            </a:r>
            <a:endParaRPr sz="1200"/>
          </a:p>
        </p:txBody>
      </p:sp>
      <p:sp>
        <p:nvSpPr>
          <p:cNvPr id="138" name="Google Shape;138;p19"/>
          <p:cNvSpPr/>
          <p:nvPr/>
        </p:nvSpPr>
        <p:spPr>
          <a:xfrm>
            <a:off x="5698900" y="2350700"/>
            <a:ext cx="869400" cy="483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식별자</a:t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6767531" y="2350700"/>
            <a:ext cx="2289000" cy="483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텍스트 세자리만 입력(영문 </a:t>
            </a:r>
            <a:r>
              <a:rPr lang="ko" sz="1200"/>
              <a:t>또는 </a:t>
            </a:r>
            <a:r>
              <a:rPr lang="ko" sz="1200"/>
              <a:t>숫자)</a:t>
            </a:r>
            <a:endParaRPr sz="1200"/>
          </a:p>
        </p:txBody>
      </p:sp>
      <p:sp>
        <p:nvSpPr>
          <p:cNvPr id="140" name="Google Shape;140;p19"/>
          <p:cNvSpPr/>
          <p:nvPr/>
        </p:nvSpPr>
        <p:spPr>
          <a:xfrm>
            <a:off x="6296650" y="2938450"/>
            <a:ext cx="2289000" cy="483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등록 버튼</a:t>
            </a:r>
            <a:endParaRPr sz="1200"/>
          </a:p>
        </p:txBody>
      </p:sp>
      <p:sp>
        <p:nvSpPr>
          <p:cNvPr id="141" name="Google Shape;141;p19"/>
          <p:cNvSpPr/>
          <p:nvPr/>
        </p:nvSpPr>
        <p:spPr>
          <a:xfrm>
            <a:off x="5698900" y="3526200"/>
            <a:ext cx="3357600" cy="747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중복된 식별자를 등록할 경우 이 곳에 등록할 수 없다는 메시지를 빨간색을 보여줌.</a:t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5621425" y="434750"/>
            <a:ext cx="2289000" cy="48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설정&gt;로트번호&gt;등록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